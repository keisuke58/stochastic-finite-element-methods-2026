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84" r:id="rId3"/>
    <p:sldId id="285" r:id="rId4"/>
    <p:sldId id="287" r:id="rId5"/>
    <p:sldId id="286" r:id="rId6"/>
    <p:sldId id="288" r:id="rId7"/>
    <p:sldId id="290" r:id="rId8"/>
    <p:sldId id="294" r:id="rId9"/>
    <p:sldId id="296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003" autoAdjust="0"/>
  </p:normalViewPr>
  <p:slideViewPr>
    <p:cSldViewPr snapToGrid="0">
      <p:cViewPr varScale="1">
        <p:scale>
          <a:sx n="69" d="100"/>
          <a:sy n="69" d="100"/>
        </p:scale>
        <p:origin x="5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7.wmf"/><Relationship Id="rId4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7" Type="http://schemas.openxmlformats.org/officeDocument/2006/relationships/image" Target="../media/image25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.wmf"/><Relationship Id="rId1" Type="http://schemas.openxmlformats.org/officeDocument/2006/relationships/image" Target="../media/image26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.wmf"/><Relationship Id="rId1" Type="http://schemas.openxmlformats.org/officeDocument/2006/relationships/image" Target="../media/image28.wmf"/><Relationship Id="rId4" Type="http://schemas.openxmlformats.org/officeDocument/2006/relationships/image" Target="../media/image30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7368F-4990-449F-80E1-EA58E0A1FBF1}" type="datetimeFigureOut">
              <a:rPr lang="zh-CN" altLang="en-US" smtClean="0"/>
              <a:t>2024/5/2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F75B9-390C-4EAA-B744-5A8F72F629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5395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7368F-4990-449F-80E1-EA58E0A1FBF1}" type="datetimeFigureOut">
              <a:rPr lang="zh-CN" altLang="en-US" smtClean="0"/>
              <a:t>2024/5/2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F75B9-390C-4EAA-B744-5A8F72F629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626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7368F-4990-449F-80E1-EA58E0A1FBF1}" type="datetimeFigureOut">
              <a:rPr lang="zh-CN" altLang="en-US" smtClean="0"/>
              <a:t>2024/5/2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F75B9-390C-4EAA-B744-5A8F72F629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2018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7368F-4990-449F-80E1-EA58E0A1FBF1}" type="datetimeFigureOut">
              <a:rPr lang="zh-CN" altLang="en-US" smtClean="0"/>
              <a:t>2024/5/2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F75B9-390C-4EAA-B744-5A8F72F629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7653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7368F-4990-449F-80E1-EA58E0A1FBF1}" type="datetimeFigureOut">
              <a:rPr lang="zh-CN" altLang="en-US" smtClean="0"/>
              <a:t>2024/5/2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F75B9-390C-4EAA-B744-5A8F72F629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7070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7368F-4990-449F-80E1-EA58E0A1FBF1}" type="datetimeFigureOut">
              <a:rPr lang="zh-CN" altLang="en-US" smtClean="0"/>
              <a:t>2024/5/2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F75B9-390C-4EAA-B744-5A8F72F629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5740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7368F-4990-449F-80E1-EA58E0A1FBF1}" type="datetimeFigureOut">
              <a:rPr lang="zh-CN" altLang="en-US" smtClean="0"/>
              <a:t>2024/5/2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F75B9-390C-4EAA-B744-5A8F72F629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7264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7368F-4990-449F-80E1-EA58E0A1FBF1}" type="datetimeFigureOut">
              <a:rPr lang="zh-CN" altLang="en-US" smtClean="0"/>
              <a:t>2024/5/2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F75B9-390C-4EAA-B744-5A8F72F629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5922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7368F-4990-449F-80E1-EA58E0A1FBF1}" type="datetimeFigureOut">
              <a:rPr lang="zh-CN" altLang="en-US" smtClean="0"/>
              <a:t>2024/5/2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F75B9-390C-4EAA-B744-5A8F72F629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0620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7368F-4990-449F-80E1-EA58E0A1FBF1}" type="datetimeFigureOut">
              <a:rPr lang="zh-CN" altLang="en-US" smtClean="0"/>
              <a:t>2024/5/2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F75B9-390C-4EAA-B744-5A8F72F629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1820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7368F-4990-449F-80E1-EA58E0A1FBF1}" type="datetimeFigureOut">
              <a:rPr lang="zh-CN" altLang="en-US" smtClean="0"/>
              <a:t>2024/5/2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F75B9-390C-4EAA-B744-5A8F72F629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7977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07368F-4990-449F-80E1-EA58E0A1FBF1}" type="datetimeFigureOut">
              <a:rPr lang="zh-CN" altLang="en-US" smtClean="0"/>
              <a:t>2024/5/2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4F75B9-390C-4EAA-B744-5A8F72F629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2087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10.bin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0" Type="http://schemas.openxmlformats.org/officeDocument/2006/relationships/image" Target="../media/image8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8.bin"/><Relationship Id="rId14" Type="http://schemas.openxmlformats.org/officeDocument/2006/relationships/image" Target="../media/image10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13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14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4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17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oleObject" Target="../embeddings/oleObject25.bin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23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5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24.bin"/><Relationship Id="rId5" Type="http://schemas.openxmlformats.org/officeDocument/2006/relationships/oleObject" Target="../embeddings/oleObject21.bin"/><Relationship Id="rId15" Type="http://schemas.openxmlformats.org/officeDocument/2006/relationships/oleObject" Target="../embeddings/oleObject26.bin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23.bin"/><Relationship Id="rId14" Type="http://schemas.openxmlformats.org/officeDocument/2006/relationships/image" Target="../media/image24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26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31.bin"/><Relationship Id="rId10" Type="http://schemas.openxmlformats.org/officeDocument/2006/relationships/image" Target="../media/image30.wmf"/><Relationship Id="rId4" Type="http://schemas.openxmlformats.org/officeDocument/2006/relationships/image" Target="../media/image28.wmf"/><Relationship Id="rId9" Type="http://schemas.openxmlformats.org/officeDocument/2006/relationships/oleObject" Target="../embeddings/oleObject3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Simulating random fields by KLE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712875"/>
            <a:ext cx="9144000" cy="1655762"/>
          </a:xfrm>
        </p:spPr>
        <p:txBody>
          <a:bodyPr/>
          <a:lstStyle/>
          <a:p>
            <a:r>
              <a:rPr lang="en-US" altLang="zh-CN" dirty="0" smtClean="0"/>
              <a:t>Dr. </a:t>
            </a:r>
            <a:r>
              <a:rPr lang="en-US" altLang="zh-CN" dirty="0" err="1" smtClean="0"/>
              <a:t>Zhibao</a:t>
            </a:r>
            <a:r>
              <a:rPr lang="en-US" altLang="zh-CN" dirty="0" smtClean="0"/>
              <a:t> Zheng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059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内容占位符 2"/>
          <p:cNvSpPr>
            <a:spLocks noGrp="1"/>
          </p:cNvSpPr>
          <p:nvPr>
            <p:ph idx="1"/>
          </p:nvPr>
        </p:nvSpPr>
        <p:spPr>
          <a:xfrm>
            <a:off x="755073" y="800388"/>
            <a:ext cx="6430818" cy="684604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 smtClean="0"/>
              <a:t>Analytical KLE:</a:t>
            </a:r>
            <a:endParaRPr lang="zh-CN" altLang="en-US" b="1" dirty="0"/>
          </a:p>
        </p:txBody>
      </p:sp>
      <p:sp>
        <p:nvSpPr>
          <p:cNvPr id="14" name="内容占位符 2"/>
          <p:cNvSpPr txBox="1">
            <a:spLocks/>
          </p:cNvSpPr>
          <p:nvPr/>
        </p:nvSpPr>
        <p:spPr>
          <a:xfrm>
            <a:off x="755073" y="1555080"/>
            <a:ext cx="5839691" cy="497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smtClean="0"/>
              <a:t>Consider 1D covariance function </a:t>
            </a:r>
            <a:endParaRPr lang="zh-CN" altLang="en-US" dirty="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3939401"/>
              </p:ext>
            </p:extLst>
          </p:nvPr>
        </p:nvGraphicFramePr>
        <p:xfrm>
          <a:off x="4190602" y="3090958"/>
          <a:ext cx="34671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07" name="Equation" r:id="rId3" imgW="1981080" imgH="330120" progId="Equation.DSMT4">
                  <p:embed/>
                </p:oleObj>
              </mc:Choice>
              <mc:Fallback>
                <p:oleObj name="Equation" r:id="rId3" imgW="1981080" imgH="33012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0602" y="3090958"/>
                        <a:ext cx="3467100" cy="5826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内容占位符 2"/>
          <p:cNvSpPr txBox="1">
            <a:spLocks/>
          </p:cNvSpPr>
          <p:nvPr/>
        </p:nvSpPr>
        <p:spPr>
          <a:xfrm>
            <a:off x="755073" y="2491858"/>
            <a:ext cx="6107545" cy="497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smtClean="0"/>
              <a:t>Integral equation:</a:t>
            </a:r>
            <a:endParaRPr lang="zh-CN" altLang="en-US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9139274"/>
              </p:ext>
            </p:extLst>
          </p:nvPr>
        </p:nvGraphicFramePr>
        <p:xfrm>
          <a:off x="5812703" y="1377496"/>
          <a:ext cx="4606925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08" name="Equation" r:id="rId5" imgW="2628720" imgH="482400" progId="Equation.DSMT4">
                  <p:embed/>
                </p:oleObj>
              </mc:Choice>
              <mc:Fallback>
                <p:oleObj name="Equation" r:id="rId5" imgW="2628720" imgH="482400" progId="Equation.DSMT4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2703" y="1377496"/>
                        <a:ext cx="4606925" cy="8524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6469889"/>
              </p:ext>
            </p:extLst>
          </p:nvPr>
        </p:nvGraphicFramePr>
        <p:xfrm>
          <a:off x="3835002" y="4011902"/>
          <a:ext cx="41783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09" name="Equation" r:id="rId7" imgW="2387520" imgH="482400" progId="Equation.DSMT4">
                  <p:embed/>
                </p:oleObj>
              </mc:Choice>
              <mc:Fallback>
                <p:oleObj name="Equation" r:id="rId7" imgW="2387520" imgH="48240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5002" y="4011902"/>
                        <a:ext cx="4178300" cy="850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6672107"/>
              </p:ext>
            </p:extLst>
          </p:nvPr>
        </p:nvGraphicFramePr>
        <p:xfrm>
          <a:off x="2346325" y="5570538"/>
          <a:ext cx="715645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0" name="Equation" r:id="rId9" imgW="4089240" imgH="482400" progId="Equation.DSMT4">
                  <p:embed/>
                </p:oleObj>
              </mc:Choice>
              <mc:Fallback>
                <p:oleObj name="Equation" r:id="rId9" imgW="4089240" imgH="48240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6325" y="5570538"/>
                        <a:ext cx="7156450" cy="850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内容占位符 2"/>
          <p:cNvSpPr txBox="1">
            <a:spLocks/>
          </p:cNvSpPr>
          <p:nvPr/>
        </p:nvSpPr>
        <p:spPr>
          <a:xfrm>
            <a:off x="755072" y="4952473"/>
            <a:ext cx="6107545" cy="497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smtClean="0"/>
              <a:t>Two parts: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5658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6608293"/>
              </p:ext>
            </p:extLst>
          </p:nvPr>
        </p:nvGraphicFramePr>
        <p:xfrm>
          <a:off x="2530331" y="1184261"/>
          <a:ext cx="715645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34" name="Equation" r:id="rId3" imgW="4089240" imgH="482400" progId="Equation.DSMT4">
                  <p:embed/>
                </p:oleObj>
              </mc:Choice>
              <mc:Fallback>
                <p:oleObj name="Equation" r:id="rId3" imgW="4089240" imgH="48240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0331" y="1184261"/>
                        <a:ext cx="7156450" cy="850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1196377"/>
              </p:ext>
            </p:extLst>
          </p:nvPr>
        </p:nvGraphicFramePr>
        <p:xfrm>
          <a:off x="2152650" y="2105025"/>
          <a:ext cx="77343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35" name="Equation" r:id="rId5" imgW="4419360" imgH="482400" progId="Equation.DSMT4">
                  <p:embed/>
                </p:oleObj>
              </mc:Choice>
              <mc:Fallback>
                <p:oleObj name="Equation" r:id="rId5" imgW="4419360" imgH="482400" progId="Equation.DSMT4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2650" y="2105025"/>
                        <a:ext cx="7734300" cy="850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内容占位符 2"/>
          <p:cNvSpPr txBox="1">
            <a:spLocks/>
          </p:cNvSpPr>
          <p:nvPr/>
        </p:nvSpPr>
        <p:spPr>
          <a:xfrm>
            <a:off x="736600" y="650298"/>
            <a:ext cx="6107545" cy="497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smtClean="0"/>
              <a:t>Differentiate </a:t>
            </a:r>
            <a:endParaRPr lang="zh-CN" altLang="en-US" dirty="0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3964017"/>
              </p:ext>
            </p:extLst>
          </p:nvPr>
        </p:nvGraphicFramePr>
        <p:xfrm>
          <a:off x="2938319" y="662065"/>
          <a:ext cx="331354" cy="4642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36" name="Equation" r:id="rId7" imgW="164880" imgH="228600" progId="Equation.DSMT4">
                  <p:embed/>
                </p:oleObj>
              </mc:Choice>
              <mc:Fallback>
                <p:oleObj name="Equation" r:id="rId7" imgW="164880" imgH="22860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8319" y="662065"/>
                        <a:ext cx="331354" cy="46425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4200652"/>
              </p:ext>
            </p:extLst>
          </p:nvPr>
        </p:nvGraphicFramePr>
        <p:xfrm>
          <a:off x="1996931" y="3025789"/>
          <a:ext cx="7689850" cy="197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37" name="Equation" r:id="rId9" imgW="4394160" imgH="1117440" progId="Equation.DSMT4">
                  <p:embed/>
                </p:oleObj>
              </mc:Choice>
              <mc:Fallback>
                <p:oleObj name="Equation" r:id="rId9" imgW="4394160" imgH="1117440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6931" y="3025789"/>
                        <a:ext cx="7689850" cy="19700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0975843"/>
              </p:ext>
            </p:extLst>
          </p:nvPr>
        </p:nvGraphicFramePr>
        <p:xfrm>
          <a:off x="2241549" y="5111750"/>
          <a:ext cx="7645401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38" name="Equation" r:id="rId11" imgW="4368600" imgH="482400" progId="Equation.DSMT4">
                  <p:embed/>
                </p:oleObj>
              </mc:Choice>
              <mc:Fallback>
                <p:oleObj name="Equation" r:id="rId11" imgW="4368600" imgH="48240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1549" y="5111750"/>
                        <a:ext cx="7645401" cy="850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8967440"/>
              </p:ext>
            </p:extLst>
          </p:nvPr>
        </p:nvGraphicFramePr>
        <p:xfrm>
          <a:off x="2938319" y="5962650"/>
          <a:ext cx="617855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39" name="Equation" r:id="rId13" imgW="3530520" imgH="507960" progId="Equation.DSMT4">
                  <p:embed/>
                </p:oleObj>
              </mc:Choice>
              <mc:Fallback>
                <p:oleObj name="Equation" r:id="rId13" imgW="3530520" imgH="50796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8319" y="5962650"/>
                        <a:ext cx="6178550" cy="8953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58768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2"/>
          <p:cNvSpPr txBox="1">
            <a:spLocks/>
          </p:cNvSpPr>
          <p:nvPr/>
        </p:nvSpPr>
        <p:spPr>
          <a:xfrm>
            <a:off x="667472" y="1613319"/>
            <a:ext cx="6107545" cy="497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smtClean="0"/>
              <a:t>Again differentiate </a:t>
            </a:r>
            <a:endParaRPr lang="zh-CN" altLang="en-US" dirty="0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/>
          </p:nvPr>
        </p:nvGraphicFramePr>
        <p:xfrm>
          <a:off x="3721244" y="1629849"/>
          <a:ext cx="331354" cy="4642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50" name="Equation" r:id="rId3" imgW="164880" imgH="228600" progId="Equation.DSMT4">
                  <p:embed/>
                </p:oleObj>
              </mc:Choice>
              <mc:Fallback>
                <p:oleObj name="Equation" r:id="rId3" imgW="164880" imgH="22860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1244" y="1629849"/>
                        <a:ext cx="331354" cy="46425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7220826"/>
              </p:ext>
            </p:extLst>
          </p:nvPr>
        </p:nvGraphicFramePr>
        <p:xfrm>
          <a:off x="1320943" y="629070"/>
          <a:ext cx="922337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51" name="Equation" r:id="rId5" imgW="5270400" imgH="482400" progId="Equation.DSMT4">
                  <p:embed/>
                </p:oleObj>
              </mc:Choice>
              <mc:Fallback>
                <p:oleObj name="Equation" r:id="rId5" imgW="5270400" imgH="48240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0943" y="629070"/>
                        <a:ext cx="9223375" cy="850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2604400"/>
              </p:ext>
            </p:extLst>
          </p:nvPr>
        </p:nvGraphicFramePr>
        <p:xfrm>
          <a:off x="1429472" y="2159146"/>
          <a:ext cx="9467850" cy="205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52" name="Equation" r:id="rId7" imgW="5410080" imgH="1168200" progId="Equation.DSMT4">
                  <p:embed/>
                </p:oleObj>
              </mc:Choice>
              <mc:Fallback>
                <p:oleObj name="Equation" r:id="rId7" imgW="5410080" imgH="11682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472" y="2159146"/>
                        <a:ext cx="9467850" cy="20589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0511026"/>
              </p:ext>
            </p:extLst>
          </p:nvPr>
        </p:nvGraphicFramePr>
        <p:xfrm>
          <a:off x="2284413" y="4635500"/>
          <a:ext cx="7756525" cy="183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53" name="Equation" r:id="rId9" imgW="4431960" imgH="1041120" progId="Equation.DSMT4">
                  <p:embed/>
                </p:oleObj>
              </mc:Choice>
              <mc:Fallback>
                <p:oleObj name="Equation" r:id="rId9" imgW="4431960" imgH="104112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4413" y="4635500"/>
                        <a:ext cx="7756525" cy="18351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46043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1260508"/>
              </p:ext>
            </p:extLst>
          </p:nvPr>
        </p:nvGraphicFramePr>
        <p:xfrm>
          <a:off x="2523544" y="1295544"/>
          <a:ext cx="695642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82" name="Equation" r:id="rId3" imgW="3974760" imgH="482400" progId="Equation.DSMT4">
                  <p:embed/>
                </p:oleObj>
              </mc:Choice>
              <mc:Fallback>
                <p:oleObj name="Equation" r:id="rId3" imgW="3974760" imgH="482400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3544" y="1295544"/>
                        <a:ext cx="6956425" cy="850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7623438"/>
              </p:ext>
            </p:extLst>
          </p:nvPr>
        </p:nvGraphicFramePr>
        <p:xfrm>
          <a:off x="3935413" y="2368550"/>
          <a:ext cx="413385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83" name="Equation" r:id="rId5" imgW="2361960" imgH="469800" progId="Equation.DSMT4">
                  <p:embed/>
                </p:oleObj>
              </mc:Choice>
              <mc:Fallback>
                <p:oleObj name="Equation" r:id="rId5" imgW="2361960" imgH="469800" progId="Equation.DSMT4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413" y="2368550"/>
                        <a:ext cx="4133850" cy="8286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内容占位符 2"/>
          <p:cNvSpPr txBox="1">
            <a:spLocks/>
          </p:cNvSpPr>
          <p:nvPr/>
        </p:nvSpPr>
        <p:spPr>
          <a:xfrm>
            <a:off x="736600" y="650298"/>
            <a:ext cx="6107545" cy="497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smtClean="0"/>
              <a:t>Equation: </a:t>
            </a:r>
            <a:endParaRPr lang="zh-CN" altLang="en-US" dirty="0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1090244"/>
              </p:ext>
            </p:extLst>
          </p:nvPr>
        </p:nvGraphicFramePr>
        <p:xfrm>
          <a:off x="1386172" y="4017097"/>
          <a:ext cx="9378950" cy="174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84" name="Equation" r:id="rId7" imgW="5359320" imgH="990360" progId="Equation.DSMT4">
                  <p:embed/>
                </p:oleObj>
              </mc:Choice>
              <mc:Fallback>
                <p:oleObj name="Equation" r:id="rId7" imgW="5359320" imgH="99036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6172" y="4017097"/>
                        <a:ext cx="9378950" cy="17478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内容占位符 2"/>
          <p:cNvSpPr txBox="1">
            <a:spLocks/>
          </p:cNvSpPr>
          <p:nvPr/>
        </p:nvSpPr>
        <p:spPr>
          <a:xfrm>
            <a:off x="814383" y="3346594"/>
            <a:ext cx="6107545" cy="497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smtClean="0"/>
              <a:t>Boundary conditions: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1409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/>
          <p:cNvSpPr txBox="1">
            <a:spLocks/>
          </p:cNvSpPr>
          <p:nvPr/>
        </p:nvSpPr>
        <p:spPr>
          <a:xfrm>
            <a:off x="736600" y="650298"/>
            <a:ext cx="6107545" cy="497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Boundary conditions:</a:t>
            </a:r>
            <a:endParaRPr lang="zh-CN" altLang="en-US" dirty="0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3438586"/>
              </p:ext>
            </p:extLst>
          </p:nvPr>
        </p:nvGraphicFramePr>
        <p:xfrm>
          <a:off x="1692709" y="1311563"/>
          <a:ext cx="9090025" cy="174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78" name="Equation" r:id="rId3" imgW="5194080" imgH="990360" progId="Equation.DSMT4">
                  <p:embed/>
                </p:oleObj>
              </mc:Choice>
              <mc:Fallback>
                <p:oleObj name="Equation" r:id="rId3" imgW="5194080" imgH="99036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709" y="1311563"/>
                        <a:ext cx="9090025" cy="17478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0805765"/>
              </p:ext>
            </p:extLst>
          </p:nvPr>
        </p:nvGraphicFramePr>
        <p:xfrm>
          <a:off x="3992996" y="3138921"/>
          <a:ext cx="448945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79" name="Equation" r:id="rId5" imgW="2565360" imgH="431640" progId="Equation.DSMT4">
                  <p:embed/>
                </p:oleObj>
              </mc:Choice>
              <mc:Fallback>
                <p:oleObj name="Equation" r:id="rId5" imgW="2565360" imgH="43164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2996" y="3138921"/>
                        <a:ext cx="4489450" cy="762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736600" y="4273262"/>
            <a:ext cx="10515600" cy="889866"/>
          </a:xfrm>
        </p:spPr>
        <p:txBody>
          <a:bodyPr>
            <a:normAutofit/>
          </a:bodyPr>
          <a:lstStyle/>
          <a:p>
            <a:r>
              <a:rPr lang="en-US" altLang="zh-CN" sz="2400" dirty="0" smtClean="0"/>
              <a:t>Ref: </a:t>
            </a:r>
            <a:r>
              <a:rPr lang="en-US" altLang="zh-CN" sz="2400" dirty="0" err="1" smtClean="0"/>
              <a:t>Ghanem</a:t>
            </a:r>
            <a:r>
              <a:rPr lang="en-US" altLang="zh-CN" sz="2400" dirty="0" smtClean="0"/>
              <a:t> </a:t>
            </a:r>
            <a:r>
              <a:rPr lang="en-US" altLang="zh-CN" sz="2400" dirty="0"/>
              <a:t>R G, </a:t>
            </a:r>
            <a:r>
              <a:rPr lang="en-US" altLang="zh-CN" sz="2400" dirty="0" err="1"/>
              <a:t>Spanos</a:t>
            </a:r>
            <a:r>
              <a:rPr lang="en-US" altLang="zh-CN" sz="2400" dirty="0"/>
              <a:t> P D. Stochastic finite elements: a spectral </a:t>
            </a:r>
            <a:r>
              <a:rPr lang="en-US" altLang="zh-CN" sz="2400" dirty="0" smtClean="0"/>
              <a:t>approach. </a:t>
            </a:r>
            <a:r>
              <a:rPr lang="en-US" altLang="zh-CN" sz="2400" dirty="0"/>
              <a:t>Courier Corporation, 2003.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058616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9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/>
          <p:cNvSpPr txBox="1">
            <a:spLocks/>
          </p:cNvSpPr>
          <p:nvPr/>
        </p:nvSpPr>
        <p:spPr>
          <a:xfrm>
            <a:off x="736600" y="650298"/>
            <a:ext cx="6107545" cy="497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smtClean="0"/>
              <a:t>Solutions:</a:t>
            </a:r>
            <a:endParaRPr lang="zh-CN" alt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4418824"/>
              </p:ext>
            </p:extLst>
          </p:nvPr>
        </p:nvGraphicFramePr>
        <p:xfrm>
          <a:off x="3790372" y="1933575"/>
          <a:ext cx="44450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5" name="Equation" r:id="rId3" imgW="2539800" imgH="431640" progId="Equation.DSMT4">
                  <p:embed/>
                </p:oleObj>
              </mc:Choice>
              <mc:Fallback>
                <p:oleObj name="Equation" r:id="rId3" imgW="2539800" imgH="43164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0372" y="1933575"/>
                        <a:ext cx="4445000" cy="762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0103060"/>
              </p:ext>
            </p:extLst>
          </p:nvPr>
        </p:nvGraphicFramePr>
        <p:xfrm>
          <a:off x="3927475" y="1104900"/>
          <a:ext cx="413385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6" name="Equation" r:id="rId5" imgW="2361960" imgH="469800" progId="Equation.DSMT4">
                  <p:embed/>
                </p:oleObj>
              </mc:Choice>
              <mc:Fallback>
                <p:oleObj name="Equation" r:id="rId5" imgW="2361960" imgH="469800" progId="Equation.DSMT4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7475" y="1104900"/>
                        <a:ext cx="4133850" cy="8286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6049971"/>
              </p:ext>
            </p:extLst>
          </p:nvPr>
        </p:nvGraphicFramePr>
        <p:xfrm>
          <a:off x="2260597" y="2672123"/>
          <a:ext cx="74676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7" name="Equation" r:id="rId7" imgW="4267080" imgH="291960" progId="Equation.DSMT4">
                  <p:embed/>
                </p:oleObj>
              </mc:Choice>
              <mc:Fallback>
                <p:oleObj name="Equation" r:id="rId7" imgW="4267080" imgH="291960" progId="Equation.DSMT4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0597" y="2672123"/>
                        <a:ext cx="7467600" cy="5143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8701156"/>
              </p:ext>
            </p:extLst>
          </p:nvPr>
        </p:nvGraphicFramePr>
        <p:xfrm>
          <a:off x="2116134" y="3238645"/>
          <a:ext cx="7756525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8" name="Equation" r:id="rId9" imgW="4431960" imgH="431640" progId="Equation.DSMT4">
                  <p:embed/>
                </p:oleObj>
              </mc:Choice>
              <mc:Fallback>
                <p:oleObj name="Equation" r:id="rId9" imgW="4431960" imgH="43164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6134" y="3238645"/>
                        <a:ext cx="7756525" cy="7604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6815042"/>
              </p:ext>
            </p:extLst>
          </p:nvPr>
        </p:nvGraphicFramePr>
        <p:xfrm>
          <a:off x="4927595" y="4051229"/>
          <a:ext cx="2133600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69" name="Equation" r:id="rId11" imgW="1218960" imgH="469800" progId="Equation.DSMT4">
                  <p:embed/>
                </p:oleObj>
              </mc:Choice>
              <mc:Fallback>
                <p:oleObj name="Equation" r:id="rId11" imgW="1218960" imgH="4698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7595" y="4051229"/>
                        <a:ext cx="2133600" cy="8270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4114384"/>
              </p:ext>
            </p:extLst>
          </p:nvPr>
        </p:nvGraphicFramePr>
        <p:xfrm>
          <a:off x="4138608" y="4976742"/>
          <a:ext cx="37115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70" name="Equation" r:id="rId13" imgW="2120760" imgH="253800" progId="Equation.DSMT4">
                  <p:embed/>
                </p:oleObj>
              </mc:Choice>
              <mc:Fallback>
                <p:oleObj name="Equation" r:id="rId13" imgW="2120760" imgH="25380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8608" y="4976742"/>
                        <a:ext cx="3711575" cy="4476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981299"/>
              </p:ext>
            </p:extLst>
          </p:nvPr>
        </p:nvGraphicFramePr>
        <p:xfrm>
          <a:off x="3638545" y="5737802"/>
          <a:ext cx="4711700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71" name="Equation" r:id="rId15" imgW="2692080" imgH="495000" progId="Equation.DSMT4">
                  <p:embed/>
                </p:oleObj>
              </mc:Choice>
              <mc:Fallback>
                <p:oleObj name="Equation" r:id="rId15" imgW="2692080" imgH="49500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8545" y="5737802"/>
                        <a:ext cx="4711700" cy="8715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31280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内容占位符 2"/>
          <p:cNvSpPr>
            <a:spLocks noGrp="1"/>
          </p:cNvSpPr>
          <p:nvPr>
            <p:ph idx="1"/>
          </p:nvPr>
        </p:nvSpPr>
        <p:spPr>
          <a:xfrm>
            <a:off x="755073" y="800388"/>
            <a:ext cx="6430818" cy="684604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 smtClean="0"/>
              <a:t>Galerkin-based numerical KLE:</a:t>
            </a:r>
            <a:endParaRPr lang="zh-CN" altLang="en-US" b="1" dirty="0"/>
          </a:p>
        </p:txBody>
      </p:sp>
      <p:sp>
        <p:nvSpPr>
          <p:cNvPr id="14" name="内容占位符 2"/>
          <p:cNvSpPr txBox="1">
            <a:spLocks/>
          </p:cNvSpPr>
          <p:nvPr/>
        </p:nvSpPr>
        <p:spPr>
          <a:xfrm>
            <a:off x="755073" y="1555080"/>
            <a:ext cx="5839691" cy="497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smtClean="0"/>
              <a:t>Consider 1D covariance function </a:t>
            </a:r>
            <a:endParaRPr lang="zh-CN" altLang="en-US" dirty="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0303743"/>
              </p:ext>
            </p:extLst>
          </p:nvPr>
        </p:nvGraphicFramePr>
        <p:xfrm>
          <a:off x="5224064" y="2747725"/>
          <a:ext cx="140017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7" name="Equation" r:id="rId3" imgW="799920" imgH="177480" progId="Equation.DSMT4">
                  <p:embed/>
                </p:oleObj>
              </mc:Choice>
              <mc:Fallback>
                <p:oleObj name="Equation" r:id="rId3" imgW="799920" imgH="17748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4064" y="2747725"/>
                        <a:ext cx="1400175" cy="3143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内容占位符 2"/>
          <p:cNvSpPr txBox="1">
            <a:spLocks/>
          </p:cNvSpPr>
          <p:nvPr/>
        </p:nvSpPr>
        <p:spPr>
          <a:xfrm>
            <a:off x="755072" y="2229984"/>
            <a:ext cx="6107545" cy="497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smtClean="0"/>
              <a:t>Finite element equation:</a:t>
            </a:r>
            <a:endParaRPr lang="zh-CN" altLang="en-US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208511"/>
              </p:ext>
            </p:extLst>
          </p:nvPr>
        </p:nvGraphicFramePr>
        <p:xfrm>
          <a:off x="5812703" y="1377496"/>
          <a:ext cx="4606925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8" name="Equation" r:id="rId5" imgW="2628720" imgH="482400" progId="Equation.DSMT4">
                  <p:embed/>
                </p:oleObj>
              </mc:Choice>
              <mc:Fallback>
                <p:oleObj name="Equation" r:id="rId5" imgW="2628720" imgH="48240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2703" y="1377496"/>
                        <a:ext cx="4606925" cy="8524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内容占位符 2"/>
          <p:cNvSpPr txBox="1">
            <a:spLocks/>
          </p:cNvSpPr>
          <p:nvPr/>
        </p:nvSpPr>
        <p:spPr>
          <a:xfrm>
            <a:off x="755072" y="3154281"/>
            <a:ext cx="6107545" cy="497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smtClean="0"/>
              <a:t>where</a:t>
            </a:r>
            <a:endParaRPr lang="zh-CN" altLang="en-US" dirty="0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094213"/>
              </p:ext>
            </p:extLst>
          </p:nvPr>
        </p:nvGraphicFramePr>
        <p:xfrm>
          <a:off x="3946126" y="3651601"/>
          <a:ext cx="3956050" cy="1166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9" name="Equation" r:id="rId7" imgW="2260440" imgH="660240" progId="Equation.DSMT4">
                  <p:embed/>
                </p:oleObj>
              </mc:Choice>
              <mc:Fallback>
                <p:oleObj name="Equation" r:id="rId7" imgW="2260440" imgH="66024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6126" y="3651601"/>
                        <a:ext cx="3956050" cy="11668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77649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内容占位符 2"/>
          <p:cNvSpPr>
            <a:spLocks noGrp="1"/>
          </p:cNvSpPr>
          <p:nvPr>
            <p:ph idx="1"/>
          </p:nvPr>
        </p:nvSpPr>
        <p:spPr>
          <a:xfrm>
            <a:off x="755073" y="800388"/>
            <a:ext cx="6430818" cy="684604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 smtClean="0"/>
              <a:t>Discretization-based numerical KLE:</a:t>
            </a:r>
            <a:endParaRPr lang="zh-CN" altLang="en-US" b="1" dirty="0"/>
          </a:p>
        </p:txBody>
      </p:sp>
      <p:sp>
        <p:nvSpPr>
          <p:cNvPr id="14" name="内容占位符 2"/>
          <p:cNvSpPr txBox="1">
            <a:spLocks/>
          </p:cNvSpPr>
          <p:nvPr/>
        </p:nvSpPr>
        <p:spPr>
          <a:xfrm>
            <a:off x="755073" y="1555080"/>
            <a:ext cx="5839691" cy="497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smtClean="0"/>
              <a:t>Consider 1D covariance function </a:t>
            </a:r>
            <a:endParaRPr lang="zh-CN" altLang="en-US" dirty="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3460824"/>
              </p:ext>
            </p:extLst>
          </p:nvPr>
        </p:nvGraphicFramePr>
        <p:xfrm>
          <a:off x="4991100" y="2635250"/>
          <a:ext cx="18669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0" name="Equation" r:id="rId3" imgW="1066680" imgH="304560" progId="Equation.DSMT4">
                  <p:embed/>
                </p:oleObj>
              </mc:Choice>
              <mc:Fallback>
                <p:oleObj name="Equation" r:id="rId3" imgW="1066680" imgH="30456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1100" y="2635250"/>
                        <a:ext cx="1866900" cy="5397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内容占位符 2"/>
          <p:cNvSpPr txBox="1">
            <a:spLocks/>
          </p:cNvSpPr>
          <p:nvPr/>
        </p:nvSpPr>
        <p:spPr>
          <a:xfrm>
            <a:off x="755072" y="2229984"/>
            <a:ext cx="6107545" cy="497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smtClean="0"/>
              <a:t>Spatial discretization:</a:t>
            </a:r>
            <a:endParaRPr lang="zh-CN" altLang="en-US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/>
          </p:nvPr>
        </p:nvGraphicFramePr>
        <p:xfrm>
          <a:off x="5812703" y="1377496"/>
          <a:ext cx="4606925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1" name="Equation" r:id="rId5" imgW="2628720" imgH="482400" progId="Equation.DSMT4">
                  <p:embed/>
                </p:oleObj>
              </mc:Choice>
              <mc:Fallback>
                <p:oleObj name="Equation" r:id="rId5" imgW="2628720" imgH="48240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2703" y="1377496"/>
                        <a:ext cx="4606925" cy="8524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0431351"/>
              </p:ext>
            </p:extLst>
          </p:nvPr>
        </p:nvGraphicFramePr>
        <p:xfrm>
          <a:off x="4646613" y="3921125"/>
          <a:ext cx="255587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2" name="Equation" r:id="rId7" imgW="1460160" imgH="355320" progId="Equation.DSMT4">
                  <p:embed/>
                </p:oleObj>
              </mc:Choice>
              <mc:Fallback>
                <p:oleObj name="Equation" r:id="rId7" imgW="1460160" imgH="35532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6613" y="3921125"/>
                        <a:ext cx="2555875" cy="6286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内容占位符 2"/>
          <p:cNvSpPr txBox="1">
            <a:spLocks/>
          </p:cNvSpPr>
          <p:nvPr/>
        </p:nvSpPr>
        <p:spPr>
          <a:xfrm>
            <a:off x="750455" y="3203905"/>
            <a:ext cx="6107545" cy="497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smtClean="0"/>
              <a:t>Covariance matrix:</a:t>
            </a:r>
            <a:endParaRPr lang="zh-CN" altLang="en-US" dirty="0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7734033"/>
              </p:ext>
            </p:extLst>
          </p:nvPr>
        </p:nvGraphicFramePr>
        <p:xfrm>
          <a:off x="3613150" y="4769675"/>
          <a:ext cx="4622800" cy="157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3" name="Equation" r:id="rId9" imgW="2641320" imgH="888840" progId="Equation.DSMT4">
                  <p:embed/>
                </p:oleObj>
              </mc:Choice>
              <mc:Fallback>
                <p:oleObj name="Equation" r:id="rId9" imgW="2641320" imgH="88884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3150" y="4769675"/>
                        <a:ext cx="4622800" cy="15716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72306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978</TotalTime>
  <Words>85</Words>
  <Application>Microsoft Office PowerPoint</Application>
  <PresentationFormat>宽屏</PresentationFormat>
  <Paragraphs>21</Paragraphs>
  <Slides>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等线</vt:lpstr>
      <vt:lpstr>等线 Light</vt:lpstr>
      <vt:lpstr>Arial</vt:lpstr>
      <vt:lpstr>Office 主题​​</vt:lpstr>
      <vt:lpstr>Equation</vt:lpstr>
      <vt:lpstr>Simulating random fields by KLE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ZhengZhi</dc:creator>
  <cp:lastModifiedBy>ZhengZhi</cp:lastModifiedBy>
  <cp:revision>247</cp:revision>
  <dcterms:created xsi:type="dcterms:W3CDTF">2022-01-28T08:14:10Z</dcterms:created>
  <dcterms:modified xsi:type="dcterms:W3CDTF">2024-05-02T05:44:19Z</dcterms:modified>
</cp:coreProperties>
</file>